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智能编程插件(P03) 月度收入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月收入(万元)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10月</c:v>
                </c:pt>
                <c:pt idx="1">
                  <c:v>11月</c:v>
                </c:pt>
                <c:pt idx="2">
                  <c:v>12月</c:v>
                </c:pt>
                <c:pt idx="3">
                  <c:v>1月</c:v>
                </c:pt>
                <c:pt idx="4">
                  <c:v>2月</c:v>
                </c:pt>
                <c:pt idx="5">
                  <c:v>3月</c:v>
                </c:pt>
                <c:pt idx="6">
                  <c:v>4月</c:v>
                </c:pt>
                <c:pt idx="7">
                  <c:v>5月</c:v>
                </c:pt>
                <c:pt idx="8">
                  <c:v>6月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8.5</c:v>
                </c:pt>
                <c:pt idx="1">
                  <c:v>9.2</c:v>
                </c:pt>
                <c:pt idx="2">
                  <c:v>10.5</c:v>
                </c:pt>
                <c:pt idx="3">
                  <c:v>11.2</c:v>
                </c:pt>
                <c:pt idx="4">
                  <c:v>11.8</c:v>
                </c:pt>
                <c:pt idx="5">
                  <c:v>12.8</c:v>
                </c:pt>
                <c:pt idx="6">
                  <c:v>12.5</c:v>
                </c:pt>
                <c:pt idx="7">
                  <c:v>10.8</c:v>
                </c:pt>
                <c:pt idx="8">
                  <c:v>9.1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0"/>
          <a:lstStyle/>
          <a:p>
            <a:pPr>
              <a:defRPr sz="2400" b="1">
                <a:solidFill>
                  <a:srgbClr val="FFFFFF"/>
                </a:solidFill>
                <a:latin typeface="微软雅黑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1440000" y="1800000"/>
            <a:ext cx="93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C5CE7"/>
                </a:solidFill>
                <a:latin typeface="微软雅黑"/>
              </a:defRPr>
            </a:pPr>
            <a:r>
              <a:t>明创工坊 · Q2产品运营分析报告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2700000"/>
            <a:ext cx="9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66666"/>
                </a:solidFill>
                <a:latin typeface="微软雅黑"/>
              </a:defRPr>
            </a:pPr>
            <a:r>
              <a:t>2026年第二季度 · 产品收入分析与策略复盘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600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编制人：张明  |  汇报日期：2026-07-01  |  版本：v1.0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120000"/>
            <a:ext cx="12192119" cy="216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0"/>
          <a:lstStyle/>
          <a:p>
            <a:pPr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工作室概况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90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C5CE7"/>
                </a:solidFill>
                <a:latin typeface="微软雅黑"/>
              </a:defRPr>
            </a:pPr>
            <a:r>
              <a:t>明创工坊（MingCraft Studio）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440000"/>
            <a:ext cx="54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创立时间：2025年10月</a:t>
            </a:r>
          </a:p>
          <a:p>
            <a:r>
              <a:t>运营模式：1人 + N个AI智能体</a:t>
            </a:r>
          </a:p>
          <a:p>
            <a:r>
              <a:t>产品线：18个数字产品（APP/插件/模板/课程/素材/工具）</a:t>
            </a:r>
          </a:p>
          <a:p>
            <a:r>
              <a:t>AI工具链：18种AI工具覆盖编程/设计/文案/客服/分析</a:t>
            </a:r>
          </a:p>
          <a:p>
            <a:r>
              <a:t>客户数：15个核心客户（个人/团队/企业）</a:t>
            </a:r>
          </a:p>
          <a:p>
            <a:r>
              <a:t>Q2关键事件：明星产品收入下降29%</a:t>
            </a:r>
          </a:p>
          <a:p>
            <a:r>
              <a:t>PPT中使用的产品名称：智能编程插件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0" y="1440000"/>
            <a:ext cx="1080000" cy="1440000"/>
          </a:xfrm>
          <a:prstGeom prst="roundRect">
            <a:avLst/>
          </a:prstGeom>
          <a:solidFill>
            <a:srgbClr val="6C5CE7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defRPr sz="1600">
                <a:solidFill>
                  <a:srgbClr val="FFFFFF"/>
                </a:solidFill>
                <a:latin typeface="微软雅黑"/>
              </a:defRPr>
            </a:pPr>
            <a:r>
              <a:t>18</a:t>
            </a:r>
            <a:br/>
            <a:r>
              <a:t>数字产品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60000" y="1440000"/>
            <a:ext cx="1080000" cy="1440000"/>
          </a:xfrm>
          <a:prstGeom prst="roundRect">
            <a:avLst/>
          </a:prstGeom>
          <a:solidFill>
            <a:srgbClr val="00B894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defRPr sz="1600">
                <a:solidFill>
                  <a:srgbClr val="FFFFFF"/>
                </a:solidFill>
                <a:latin typeface="微软雅黑"/>
              </a:defRPr>
            </a:pPr>
            <a:r>
              <a:t>18</a:t>
            </a:r>
            <a:br/>
            <a:r>
              <a:t>AI工具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20000" y="1440000"/>
            <a:ext cx="1080000" cy="1440000"/>
          </a:xfrm>
          <a:prstGeom prst="roundRect">
            <a:avLst/>
          </a:prstGeom>
          <a:solidFill>
            <a:srgbClr val="E03E3E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defRPr sz="1600">
                <a:solidFill>
                  <a:srgbClr val="FFFFFF"/>
                </a:solidFill>
                <a:latin typeface="微软雅黑"/>
              </a:defRPr>
            </a:pPr>
            <a:r>
              <a:t>15</a:t>
            </a:r>
            <a:br/>
            <a:r>
              <a:t>核心客户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80000" y="1440000"/>
            <a:ext cx="1080000" cy="144000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defRPr sz="1600">
                <a:solidFill>
                  <a:srgbClr val="FFFFFF"/>
                </a:solidFill>
                <a:latin typeface="微软雅黑"/>
              </a:defRPr>
            </a:pPr>
            <a:r>
              <a:t>14</a:t>
            </a:r>
            <a:br/>
            <a:r>
              <a:t>数据资产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0" y="3240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注：四类实体（产品/AI工具/客户/数据）共65个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3960000"/>
            <a:ext cx="108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2E"/>
                </a:solidFill>
                <a:latin typeface="微软雅黑"/>
              </a:defRPr>
            </a:pPr>
            <a:r>
              <a:t>Q2核心事件概览：</a:t>
            </a:r>
            <a:br/>
            <a:r>
              <a:t>· 4月8日：全局定价策略变更（免费增值 → 订阅制：9.9元/月基础，29.9元/月高级）</a:t>
            </a:r>
            <a:br/>
            <a:r>
              <a:t>· 5月6日：Cursor v1→v2升级，智能编程插件（PPT称呼）出现兼容性问题，停更2周</a:t>
            </a:r>
            <a:br/>
            <a:r>
              <a:t>· 5月20日：设计素材包V3停售由V4替代；文案助手功能并入周报工具</a:t>
            </a:r>
            <a:br/>
            <a:r>
              <a:t>· 6月1日：Q2收入确认，智能编程插件收入12.8万→9.1万，下降29%</a:t>
            </a:r>
            <a:br/>
            <a:r>
              <a:t>· 归因分析：定价策略贡献-17%，工具升级兼容性贡献-12%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6300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明创工坊 · 2026年Q2运营分析 · 编制人张明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0"/>
          <a:lstStyle/>
          <a:p>
            <a:pPr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智能编程插件 · 月度收入趋势（2025.10 - 2026.06）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0000" y="900000"/>
          <a:ext cx="6480000" cy="432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920000" y="90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C5CE7"/>
                </a:solidFill>
                <a:latin typeface="微软雅黑"/>
              </a:defRPr>
            </a:pPr>
            <a:r>
              <a:t>续费率变化趋势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20000" y="1440000"/>
            <a:ext cx="1080000" cy="432000"/>
          </a:xfrm>
          <a:prstGeom prst="roundRect">
            <a:avLst/>
          </a:prstGeom>
          <a:solidFill>
            <a:srgbClr val="3D4A5A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defRPr sz="1000">
                <a:solidFill>
                  <a:srgbClr val="FFFFFF"/>
                </a:solidFill>
                <a:latin typeface="微软雅黑"/>
              </a:defRPr>
            </a:pPr>
            <a:r>
              <a:t>1月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000" y="1440000"/>
            <a:ext cx="1080000" cy="432000"/>
          </a:xfrm>
          <a:prstGeom prst="roundRect">
            <a:avLst/>
          </a:prstGeom>
          <a:solidFill>
            <a:srgbClr val="2ECC71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defRPr sz="1200">
                <a:solidFill>
                  <a:srgbClr val="FFFFFF"/>
                </a:solidFill>
                <a:latin typeface="微软雅黑"/>
              </a:defRPr>
            </a:pPr>
            <a:r>
              <a:t>92%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0000" y="1980000"/>
            <a:ext cx="1080000" cy="432000"/>
          </a:xfrm>
          <a:prstGeom prst="roundRect">
            <a:avLst/>
          </a:prstGeom>
          <a:solidFill>
            <a:srgbClr val="3D4A5A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defRPr sz="1000">
                <a:solidFill>
                  <a:srgbClr val="FFFFFF"/>
                </a:solidFill>
                <a:latin typeface="微软雅黑"/>
              </a:defRPr>
            </a:pPr>
            <a:r>
              <a:t>2月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0000" y="1980000"/>
            <a:ext cx="1080000" cy="432000"/>
          </a:xfrm>
          <a:prstGeom prst="roundRect">
            <a:avLst/>
          </a:prstGeom>
          <a:solidFill>
            <a:srgbClr val="2ECC71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defRPr sz="1200">
                <a:solidFill>
                  <a:srgbClr val="FFFFFF"/>
                </a:solidFill>
                <a:latin typeface="微软雅黑"/>
              </a:defRPr>
            </a:pPr>
            <a:r>
              <a:t>90%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0000" y="2520000"/>
            <a:ext cx="1080000" cy="432000"/>
          </a:xfrm>
          <a:prstGeom prst="roundRect">
            <a:avLst/>
          </a:prstGeom>
          <a:solidFill>
            <a:srgbClr val="3D4A5A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defRPr sz="1000">
                <a:solidFill>
                  <a:srgbClr val="FFFFFF"/>
                </a:solidFill>
                <a:latin typeface="微软雅黑"/>
              </a:defRPr>
            </a:pPr>
            <a:r>
              <a:t>3月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0000" y="2520000"/>
            <a:ext cx="1080000" cy="432000"/>
          </a:xfrm>
          <a:prstGeom prst="roundRect">
            <a:avLst/>
          </a:prstGeom>
          <a:solidFill>
            <a:srgbClr val="2ECC71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defRPr sz="1200">
                <a:solidFill>
                  <a:srgbClr val="FFFFFF"/>
                </a:solidFill>
                <a:latin typeface="微软雅黑"/>
              </a:defRPr>
            </a:pPr>
            <a:r>
              <a:t>85%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0000" y="3060000"/>
            <a:ext cx="1080000" cy="432000"/>
          </a:xfrm>
          <a:prstGeom prst="roundRect">
            <a:avLst/>
          </a:prstGeom>
          <a:solidFill>
            <a:srgbClr val="3D4A5A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defRPr sz="1000">
                <a:solidFill>
                  <a:srgbClr val="FFFFFF"/>
                </a:solidFill>
                <a:latin typeface="微软雅黑"/>
              </a:defRPr>
            </a:pPr>
            <a:r>
              <a:t>4月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0000" y="3060000"/>
            <a:ext cx="1080000" cy="43200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defRPr sz="1200">
                <a:solidFill>
                  <a:srgbClr val="FFFFFF"/>
                </a:solidFill>
                <a:latin typeface="微软雅黑"/>
              </a:defRPr>
            </a:pPr>
            <a:r>
              <a:t>82%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0000" y="3600000"/>
            <a:ext cx="1080000" cy="432000"/>
          </a:xfrm>
          <a:prstGeom prst="roundRect">
            <a:avLst/>
          </a:prstGeom>
          <a:solidFill>
            <a:srgbClr val="3D4A5A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defRPr sz="1000">
                <a:solidFill>
                  <a:srgbClr val="FFFFFF"/>
                </a:solidFill>
                <a:latin typeface="微软雅黑"/>
              </a:defRPr>
            </a:pPr>
            <a:r>
              <a:t>5月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0000" y="3600000"/>
            <a:ext cx="1080000" cy="432000"/>
          </a:xfrm>
          <a:prstGeom prst="roundRect">
            <a:avLst/>
          </a:prstGeom>
          <a:solidFill>
            <a:srgbClr val="E03E3E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defRPr sz="1200">
                <a:solidFill>
                  <a:srgbClr val="FFFFFF"/>
                </a:solidFill>
                <a:latin typeface="微软雅黑"/>
              </a:defRPr>
            </a:pPr>
            <a:r>
              <a:t>72%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0000" y="4140000"/>
            <a:ext cx="1080000" cy="432000"/>
          </a:xfrm>
          <a:prstGeom prst="roundRect">
            <a:avLst/>
          </a:prstGeom>
          <a:solidFill>
            <a:srgbClr val="3D4A5A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defRPr sz="1000">
                <a:solidFill>
                  <a:srgbClr val="FFFFFF"/>
                </a:solidFill>
                <a:latin typeface="微软雅黑"/>
              </a:defRPr>
            </a:pPr>
            <a:r>
              <a:t>6月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0000" y="4140000"/>
            <a:ext cx="1080000" cy="432000"/>
          </a:xfrm>
          <a:prstGeom prst="roundRect">
            <a:avLst/>
          </a:prstGeom>
          <a:solidFill>
            <a:srgbClr val="E03E3E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defRPr sz="1200">
                <a:solidFill>
                  <a:srgbClr val="FFFFFF"/>
                </a:solidFill>
                <a:latin typeface="微软雅黑"/>
              </a:defRPr>
            </a:pPr>
            <a:r>
              <a:t>63%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0" y="4860000"/>
            <a:ext cx="36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E03E3E"/>
                </a:solidFill>
                <a:latin typeface="微软雅黑"/>
              </a:defRPr>
            </a:pPr>
            <a:r>
              <a:t>关键节点：</a:t>
            </a:r>
            <a:br/>
            <a:r>
              <a:t>· 3月：收入峰值12.8万元</a:t>
            </a:r>
            <a:br/>
            <a:r>
              <a:t>· 4月8日：定价变更 → 12.5万</a:t>
            </a:r>
            <a:br/>
            <a:r>
              <a:t>· 5月6日：Cursor v2兼容性问题 → 10.8万</a:t>
            </a:r>
            <a:br/>
            <a:r>
              <a:t>· 6月：续费率降至63%，收入9.1万</a:t>
            </a:r>
            <a:br/>
            <a:r>
              <a:t>· 较峰值下降29%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6300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明创工坊 · 2026年Q2运营分析 · 编制人张明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0"/>
          <a:lstStyle/>
          <a:p>
            <a:pPr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各产品Q2收入与续费率对比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080000"/>
          <a:ext cx="1116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1800000"/>
                <a:gridCol w="1800000"/>
                <a:gridCol w="1800000"/>
                <a:gridCol w="1440000"/>
                <a:gridCol w="2160000"/>
              </a:tblGrid>
              <a:tr h="40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产品名称</a:t>
                      </a:r>
                    </a:p>
                  </a:txBody>
                  <a:tcPr anchor="ctr"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4月收入(万)</a:t>
                      </a:r>
                    </a:p>
                  </a:txBody>
                  <a:tcPr anchor="ctr"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5月收入(万)</a:t>
                      </a:r>
                    </a:p>
                  </a:txBody>
                  <a:tcPr anchor="ctr"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6月收入(万)</a:t>
                      </a:r>
                    </a:p>
                  </a:txBody>
                  <a:tcPr anchor="ctr"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续费率(6月)</a:t>
                      </a:r>
                    </a:p>
                  </a:txBody>
                  <a:tcPr anchor="ctr"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6C5CE7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智能编程插件(P03)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12.5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10.8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9.1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63%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下降29%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极简笔记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79%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下降23%</a:t>
                      </a:r>
                    </a:p>
                  </a:txBody>
                  <a:tcPr anchor="ctr"/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DL课程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3.2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2.8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2.5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稳定(未纳入订阅制)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设计素材包V3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0.3(停售)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5月20日停售</a:t>
                      </a:r>
                    </a:p>
                  </a:txBody>
                  <a:tcPr anchor="ctr"/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设计素材包V4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0.7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1.2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88%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新上线(评分3.2/5)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API接口测试工具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85%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下降19%</a:t>
                      </a:r>
                    </a:p>
                  </a:txBody>
                  <a:tcPr anchor="ctr"/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周报自动生成器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0.8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0.9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90%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增长25%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可视化插件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87%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下降13%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0000" y="5040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分析要点：</a:t>
            </a:r>
            <a:br/>
            <a:r>
              <a:t>· 定价变更对订阅制产品影响最大，智能编程插件受双重打击（定价+兼容性）下降最严重</a:t>
            </a:r>
            <a:br/>
            <a:r>
              <a:t>· DL课程作为一次性买断产品，不受订阅制影响，续费率维持100%</a:t>
            </a:r>
            <a:br/>
            <a:r>
              <a:t>· 设计素材包V4虽为新上线产品，但稳定性问题(评分3.2/5)影响续费</a:t>
            </a:r>
            <a:br/>
            <a:r>
              <a:t>· 周报自动生成器因并入文案助手功能，反而出现增长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6300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明创工坊 · 2026年Q2运营分析 · 编制人张明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0"/>
          <a:lstStyle/>
          <a:p>
            <a:pPr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定价策略AB实验结果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9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实验编号：AB-2026-0315 | 实验时间：2026年3月15日 - 3月31日 | 负责人：张明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" y="1440000"/>
          <a:ext cx="540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1440000"/>
                <a:gridCol w="1440000"/>
                <a:gridCol w="1080000"/>
              </a:tblGrid>
              <a:tr h="41142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A组(免费增值)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B组(订阅制)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差异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</a:tr>
              <a:tr h="41142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样本量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500用户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500用户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1142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7日留存率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-7%</a:t>
                      </a:r>
                    </a:p>
                  </a:txBody>
                  <a:tcPr/>
                </a:tc>
              </a:tr>
              <a:tr h="41142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30日留存率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+7%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1142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90日LTV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32.5元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53.8元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+65%</a:t>
                      </a:r>
                    </a:p>
                  </a:txBody>
                  <a:tcPr/>
                </a:tc>
              </a:tr>
              <a:tr h="41142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付费转化率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8.2%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5.1%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-3.1%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1143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月均收入/用户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2.7元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4.5元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+67%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40000" y="144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C5CE7"/>
                </a:solidFill>
                <a:latin typeface="微软雅黑"/>
              </a:defRPr>
            </a:pPr>
            <a:r>
              <a:t>实验结论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40000" y="1980000"/>
            <a:ext cx="50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2E"/>
                </a:solidFill>
                <a:latin typeface="微软雅黑"/>
              </a:defRPr>
            </a:pPr>
            <a:r>
              <a:t>1. 订阅制短期转化率下降，但长期LTV显著提升（+65%）</a:t>
            </a:r>
            <a:br/>
            <a:br/>
            <a:r>
              <a:t>2. 30日留存率提升7个百分点，订阅制有助于用户粘性</a:t>
            </a:r>
            <a:br/>
            <a:br/>
            <a:r>
              <a:t>3. 决策：4月8日全面切换为订阅制</a:t>
            </a:r>
            <a:br/>
            <a:r>
              <a:t>   基础功能：9.9元/月</a:t>
            </a:r>
            <a:br/>
            <a:r>
              <a:t>   高级功能：29.9元/月</a:t>
            </a:r>
            <a:br/>
            <a:br/>
            <a:r>
              <a:t>4. 风险预案：DL课程等课程类产品维持一次买断不变</a:t>
            </a:r>
            <a:br/>
            <a:br/>
            <a:r>
              <a:t>5. 后续验证：Q3持续监控LTV与流失率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0" y="4680000"/>
            <a:ext cx="50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AB实验独有参数（仅PPT记录）：</a:t>
            </a:r>
            <a:br/>
            <a:r>
              <a:t>· 实验编号：AB-2026-0315</a:t>
            </a:r>
            <a:br/>
            <a:r>
              <a:t>· 分流方式：用户ID哈希随机分流</a:t>
            </a:r>
            <a:br/>
            <a:r>
              <a:t>· 统计显著性：p值 &lt; 0.05</a:t>
            </a:r>
            <a:br/>
            <a:r>
              <a:t>· 置信区间：LTV差异95%CI [15.2, 27.4]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6300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明创工坊 · 2026年Q2运营分析 · 编制人张明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0"/>
          <a:lstStyle/>
          <a:p>
            <a:pPr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Cursor v2升级影响分析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9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事件时间线：2026-05-06 Cursor v1→v2发布 → P03兼容性问题 → 停更2周 → 收入下降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800000"/>
            <a:ext cx="1260000" cy="900000"/>
          </a:xfrm>
          <a:prstGeom prst="roundRect">
            <a:avLst/>
          </a:prstGeom>
          <a:solidFill>
            <a:srgbClr val="6C5CE7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defRPr sz="1000">
                <a:solidFill>
                  <a:srgbClr val="FFFFFF"/>
                </a:solidFill>
                <a:latin typeface="微软雅黑"/>
              </a:defRPr>
            </a:pPr>
            <a:r>
              <a:t>Cursor v2</a:t>
            </a:r>
            <a:br/>
            <a:r>
              <a:t>发布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772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2026-05-06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800000" y="2052000"/>
            <a:ext cx="360000" cy="2880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60000" y="1800000"/>
            <a:ext cx="1260000" cy="900000"/>
          </a:xfrm>
          <a:prstGeom prst="roundRect">
            <a:avLst/>
          </a:prstGeom>
          <a:solidFill>
            <a:srgbClr val="E03E3E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defRPr sz="1000">
                <a:solidFill>
                  <a:srgbClr val="FFFFFF"/>
                </a:solidFill>
                <a:latin typeface="微软雅黑"/>
              </a:defRPr>
            </a:pPr>
            <a:r>
              <a:t>P03兼容性</a:t>
            </a:r>
            <a:br/>
            <a:r>
              <a:t>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0000" y="2772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2026-05-08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420000" y="2052000"/>
            <a:ext cx="360000" cy="2880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80000" y="1800000"/>
            <a:ext cx="1260000" cy="90000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defRPr sz="1000">
                <a:solidFill>
                  <a:srgbClr val="FFFFFF"/>
                </a:solidFill>
                <a:latin typeface="微软雅黑"/>
              </a:defRPr>
            </a:pPr>
            <a:r>
              <a:t>暂停v2.2</a:t>
            </a:r>
            <a:br/>
            <a:r>
              <a:t>回退v2.1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0000" y="2772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2026-05-08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040000" y="2052000"/>
            <a:ext cx="360000" cy="2880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00000" y="1800000"/>
            <a:ext cx="1260000" cy="90000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defRPr sz="1000">
                <a:solidFill>
                  <a:srgbClr val="FFFFFF"/>
                </a:solidFill>
                <a:latin typeface="微软雅黑"/>
              </a:defRPr>
            </a:pPr>
            <a:r>
              <a:t>适配停更</a:t>
            </a:r>
            <a:br/>
            <a:r>
              <a:t>2周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0" y="2772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2026-05-15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660000" y="2052000"/>
            <a:ext cx="360000" cy="2880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20000" y="1800000"/>
            <a:ext cx="1260000" cy="900000"/>
          </a:xfrm>
          <a:prstGeom prst="roundRect">
            <a:avLst/>
          </a:prstGeom>
          <a:solidFill>
            <a:srgbClr val="2ECC71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defRPr sz="1000">
                <a:solidFill>
                  <a:srgbClr val="FFFFFF"/>
                </a:solidFill>
                <a:latin typeface="微软雅黑"/>
              </a:defRPr>
            </a:pPr>
            <a:r>
              <a:t>发布v2.3</a:t>
            </a:r>
            <a:br/>
            <a:r>
              <a:t>修复完成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0000" y="2772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2026-05-20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280000" y="2052000"/>
            <a:ext cx="360000" cy="2880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40000" y="1800000"/>
            <a:ext cx="1260000" cy="900000"/>
          </a:xfrm>
          <a:prstGeom prst="roundRect">
            <a:avLst/>
          </a:prstGeom>
          <a:solidFill>
            <a:srgbClr val="E03E3E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defRPr sz="1000">
                <a:solidFill>
                  <a:srgbClr val="FFFFFF"/>
                </a:solidFill>
                <a:latin typeface="微软雅黑"/>
              </a:defRPr>
            </a:pPr>
            <a:r>
              <a:t>续费率</a:t>
            </a:r>
            <a:br/>
            <a:r>
              <a:t>82%→63%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0000" y="2772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2026-06-01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900000" y="2052000"/>
            <a:ext cx="360000" cy="2880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260000" y="1800000"/>
            <a:ext cx="1260000" cy="900000"/>
          </a:xfrm>
          <a:prstGeom prst="roundRect">
            <a:avLst/>
          </a:prstGeom>
          <a:solidFill>
            <a:srgbClr val="E03E3E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defRPr sz="1000">
                <a:solidFill>
                  <a:srgbClr val="FFFFFF"/>
                </a:solidFill>
                <a:latin typeface="微软雅黑"/>
              </a:defRPr>
            </a:pPr>
            <a:r>
              <a:t>收入</a:t>
            </a:r>
            <a:br/>
            <a:r>
              <a:t>12.8→9.1万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60000" y="2772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2026-06-01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" y="342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C5CE7"/>
                </a:solidFill>
                <a:latin typeface="微软雅黑"/>
              </a:defRPr>
            </a:pPr>
            <a:r>
              <a:t>详细影响分析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" y="3960000"/>
            <a:ext cx="54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A1A2E"/>
                </a:solidFill>
                <a:latin typeface="微软雅黑"/>
              </a:defRPr>
            </a:pPr>
            <a:r>
              <a:t>1. Cursor v2代码风格变化</a:t>
            </a:r>
            <a:br/>
            <a:r>
              <a:t>   · v2默认使用不同缩进风格和命名约定</a:t>
            </a:r>
            <a:br/>
            <a:r>
              <a:t>   · P03插件基于v1风格训练，无法正确识别v2代码</a:t>
            </a:r>
            <a:br/>
            <a:br/>
            <a:r>
              <a:t>2. 适配停更期间影响</a:t>
            </a:r>
            <a:br/>
            <a:r>
              <a:t>   · P03无法更新（5月6日-5月20日）</a:t>
            </a:r>
            <a:br/>
            <a:r>
              <a:t>   · v2.2版本紧急回退至v2.1</a:t>
            </a:r>
            <a:br/>
            <a:r>
              <a:t>   · 已购用户投诉增加（工单45→128条/月）</a:t>
            </a:r>
            <a:br/>
            <a:br/>
            <a:r>
              <a:t>3. Copilot免费策略叠加影响</a:t>
            </a:r>
            <a:br/>
            <a:r>
              <a:t>   · GitHub Copilot免费额度增加</a:t>
            </a:r>
            <a:br/>
            <a:r>
              <a:t>   · P03付费价值相对降低</a:t>
            </a:r>
            <a:br/>
            <a:r>
              <a:t>   · 部分用户转向免费替代方案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40000" y="342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C5CE7"/>
                </a:solidFill>
                <a:latin typeface="微软雅黑"/>
              </a:defRPr>
            </a:pPr>
            <a:r>
              <a:t>Cursor使用数据对比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840000" y="3960000"/>
          <a:ext cx="504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/>
                <a:gridCol w="1260000"/>
                <a:gridCol w="1080000"/>
                <a:gridCol w="1620000"/>
              </a:tblGrid>
              <a:tr h="360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月份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调用频次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效率评分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备注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3月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4800次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4.6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v1稳定期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4月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5100次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v2发布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5月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3200次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3.2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兼容性问题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6月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2800次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适配后恢复中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40000" y="6300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明创工坊 · 2026年Q2运营分析 · 编制人张明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0"/>
          <a:lstStyle/>
          <a:p>
            <a:pPr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产品迭代记录与评审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9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03E3E"/>
                </a:solidFill>
                <a:latin typeface="微软雅黑"/>
              </a:defRPr>
            </a:pPr>
            <a:r>
              <a:t>以下编号信息仅在本PPT中记录，其他文档不包含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620000"/>
            <a:ext cx="5040000" cy="1800000"/>
          </a:xfrm>
          <a:prstGeom prst="roundRect">
            <a:avLst/>
          </a:prstGeom>
          <a:solidFill>
            <a:srgbClr val="6C5CE7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defRPr sz="1100">
                <a:solidFill>
                  <a:srgbClr val="FFFFFF"/>
                </a:solidFill>
                <a:latin typeface="微软雅黑"/>
              </a:defRPr>
            </a:pPr>
            <a:r>
              <a:t>产品迭代记录</a:t>
            </a:r>
            <a:br/>
            <a:br/>
            <a:r>
              <a:t>迭代记录号：IT-2026-008</a:t>
            </a:r>
            <a:br/>
            <a:r>
              <a:t>记录日期：2026-06-15</a:t>
            </a:r>
            <a:br/>
            <a:r>
              <a:t>产品：智能编程插件(P03)</a:t>
            </a:r>
            <a:br/>
            <a:r>
              <a:t>迭代内容：v2.3发布，适配Cursor v2</a:t>
            </a:r>
            <a:br/>
            <a:r>
              <a:t>迭代状态：已完成</a:t>
            </a:r>
            <a:br/>
            <a:r>
              <a:t>负责人：张明</a:t>
            </a:r>
            <a:br/>
            <a:r>
              <a:t>关联变更编号：CHG-025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0000" y="1620000"/>
            <a:ext cx="5040000" cy="1800000"/>
          </a:xfrm>
          <a:prstGeom prst="roundRect">
            <a:avLst/>
          </a:prstGeom>
          <a:solidFill>
            <a:srgbClr val="B91C1C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defRPr sz="1100">
                <a:solidFill>
                  <a:srgbClr val="FFFFFF"/>
                </a:solidFill>
                <a:latin typeface="微软雅黑"/>
              </a:defRPr>
            </a:pPr>
            <a:r>
              <a:t>产品评审记录</a:t>
            </a:r>
            <a:br/>
            <a:br/>
            <a:r>
              <a:t>评审编号：RV-2026-0412</a:t>
            </a:r>
            <a:br/>
            <a:r>
              <a:t>评审日期：2026-04-12</a:t>
            </a:r>
            <a:br/>
            <a:r>
              <a:t>评审主题：定价策略变更方案评审</a:t>
            </a:r>
            <a:br/>
            <a:r>
              <a:t>评审结论：通过（附条件：课程类产品维持原价）</a:t>
            </a:r>
            <a:br/>
            <a:r>
              <a:t>评审人：张明</a:t>
            </a:r>
            <a:br/>
            <a:r>
              <a:t>关联变更编号：CHG-014</a:t>
            </a:r>
            <a:br/>
            <a:br/>
            <a:r>
              <a:t>注：此编号亦用于2026-05-25</a:t>
            </a:r>
            <a:br/>
            <a:r>
              <a:t>V4质量反馈处理单（编号重复使用）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78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C5CE7"/>
                </a:solidFill>
                <a:latin typeface="微软雅黑"/>
              </a:defRPr>
            </a:pPr>
            <a:r>
              <a:t>Q2产品迭代全览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0000" y="4320000"/>
          <a:ext cx="972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080000"/>
                <a:gridCol w="2160000"/>
                <a:gridCol w="3600000"/>
                <a:gridCol w="1080000"/>
              </a:tblGrid>
              <a:tr h="25714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迭代记录号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日期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产品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迭代内容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IT-2026-005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2026-04-10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极简笔记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订阅制定价适配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已完成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IT-2026-006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2026-04-12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智能编程插件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订阅制定价适配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已完成</a:t>
                      </a:r>
                    </a:p>
                  </a:txBody>
                  <a:tcPr/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IT-2026-007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2026-05-20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设计素材包V4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新品上线v1.0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已完成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IT-2026-008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2026-05-15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智能编程插件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v2.3适配Cursor 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已完成</a:t>
                      </a:r>
                    </a:p>
                  </a:txBody>
                  <a:tcPr/>
                </a:tc>
              </a:tr>
              <a:tr h="25714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IT-2026-009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2026-06-10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设计素材包V4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v1.1修复渲染问题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已完成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2571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IT-2026-010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2026-06-20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周报自动生成器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文案助手功能整合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微软雅黑"/>
                        </a:defRPr>
                      </a:pPr>
                      <a:r>
                        <a:t>进行中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0000" y="6300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明创工坊 · 2026年Q2运营分析 · 编制人张明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0"/>
          <a:lstStyle/>
          <a:p>
            <a:pPr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Q2策略复盘与调整建议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0000" y="900000"/>
            <a:ext cx="1800000" cy="1080000"/>
          </a:xfrm>
          <a:prstGeom prst="roundRect">
            <a:avLst/>
          </a:prstGeom>
          <a:solidFill>
            <a:srgbClr val="6C5CE7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defRPr sz="1200">
                <a:solidFill>
                  <a:srgbClr val="FFFFFF"/>
                </a:solidFill>
                <a:latin typeface="微软雅黑"/>
              </a:defRPr>
            </a:pPr>
            <a:r>
              <a:t>1. 定价策略优化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00000" y="900000"/>
            <a:ext cx="90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2E"/>
                </a:solidFill>
                <a:latin typeface="微软雅黑"/>
              </a:defRPr>
            </a:pPr>
            <a:r>
              <a:t>订阅制长期LTV更优但短期流失严重，建议：</a:t>
            </a:r>
            <a:br/>
            <a:r>
              <a:t>· 新用户首月免费试用，降低转化阻力</a:t>
            </a:r>
            <a:br/>
            <a:r>
              <a:t>· 年付方案8折优惠，提升留存</a:t>
            </a:r>
            <a:br/>
            <a:r>
              <a:t>· 老用户过渡期3个月保持原价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2160000"/>
            <a:ext cx="1800000" cy="1080000"/>
          </a:xfrm>
          <a:prstGeom prst="roundRect">
            <a:avLst/>
          </a:prstGeom>
          <a:solidFill>
            <a:srgbClr val="E03E3E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defRPr sz="1200">
                <a:solidFill>
                  <a:srgbClr val="FFFFFF"/>
                </a:solidFill>
                <a:latin typeface="微软雅黑"/>
              </a:defRPr>
            </a:pPr>
            <a:r>
              <a:t>2. 兼容性风险应对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00000" y="2160000"/>
            <a:ext cx="90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2E"/>
                </a:solidFill>
                <a:latin typeface="微软雅黑"/>
              </a:defRPr>
            </a:pPr>
            <a:r>
              <a:t>Cursor v3即将发布，需提前适配：</a:t>
            </a:r>
            <a:br/>
            <a:r>
              <a:t>· 建立Cursor版本变更监控机制</a:t>
            </a:r>
            <a:br/>
            <a:r>
              <a:t>· 预留2周适配窗口</a:t>
            </a:r>
            <a:br/>
            <a:r>
              <a:t>· 与Cursor团队建立技术沟通渠道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3420000"/>
            <a:ext cx="1800000" cy="108000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defRPr sz="1200">
                <a:solidFill>
                  <a:srgbClr val="FFFFFF"/>
                </a:solidFill>
                <a:latin typeface="微软雅黑"/>
              </a:defRPr>
            </a:pPr>
            <a:r>
              <a:t>3. 产品线整合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3420000"/>
            <a:ext cx="90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2E"/>
                </a:solidFill>
                <a:latin typeface="微软雅黑"/>
              </a:defRPr>
            </a:pPr>
            <a:r>
              <a:t>减少产品分散，聚焦核心产品：</a:t>
            </a:r>
            <a:br/>
            <a:r>
              <a:t>· 文案助手已并入周报工具（完成）</a:t>
            </a:r>
            <a:br/>
            <a:r>
              <a:t>· 评估导图工具是否并入笔记APP</a:t>
            </a:r>
            <a:br/>
            <a:r>
              <a:t>· V4稳定性修复后逐步替代V3用户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4680000"/>
            <a:ext cx="1800000" cy="1080000"/>
          </a:xfrm>
          <a:prstGeom prst="roundRect">
            <a:avLst/>
          </a:prstGeom>
          <a:solidFill>
            <a:srgbClr val="2ECC71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defRPr sz="1200">
                <a:solidFill>
                  <a:srgbClr val="FFFFFF"/>
                </a:solidFill>
                <a:latin typeface="微软雅黑"/>
              </a:defRPr>
            </a:pPr>
            <a:r>
              <a:t>4. 客户留存策略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0000" y="4680000"/>
            <a:ext cx="90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A1A2E"/>
                </a:solidFill>
                <a:latin typeface="微软雅黑"/>
              </a:defRPr>
            </a:pPr>
            <a:r>
              <a:t>续费率下降核心应对：</a:t>
            </a:r>
            <a:br/>
            <a:r>
              <a:t>· 建立客户成功机制，主动跟进</a:t>
            </a:r>
            <a:br/>
            <a:r>
              <a:t>· P03用户专属兼容性公告和补偿</a:t>
            </a:r>
            <a:br/>
            <a:r>
              <a:t>· V4用户免费获得v1.1修复版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5940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PPT独有记录：</a:t>
            </a:r>
            <a:br/>
            <a:r>
              <a:t>· 迭代记录号IT-2026-008对应智能编程插件v2.3适配Cursor v2的迭代（仅PPT记录，其他文档无此编号）</a:t>
            </a:r>
            <a:br/>
            <a:r>
              <a:t>· 评审编号RV-2026-0412用于定价策略变更评审（仅PPT记录），同一编号在5月25日亦用于V4质量反馈处理单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6660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明创工坊 · 2026年Q2运营分析 · 编制人张明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D55U9H0F10002","ProduceID":"6e3fccc8-812a-42df-974a-a2dc54d9708f","ReservedCode1":"620834b1-3b5f-411d-b272-8b28b798fb8c","ContentPropagator":"001191110102MAD55U9H0F10002","PropagateID":"6e3fccc8-812a-42df-974a-a2dc54d9708f","ReservedCode2":"620834b1-3b5f-411d-b272-8b28b798fb8c"}</vt:lpwstr>
  </property>
</Properties>
</file>